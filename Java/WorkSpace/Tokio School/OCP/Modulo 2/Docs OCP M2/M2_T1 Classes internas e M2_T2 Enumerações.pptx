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Titillium Web SemiBold"/>
      <p:regular r:id="rId18"/>
      <p:bold r:id="rId19"/>
      <p:italic r:id="rId20"/>
      <p:boldItalic r:id="rId21"/>
    </p:embeddedFont>
    <p:embeddedFont>
      <p:font typeface="Titillium Web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6" roundtripDataSignature="AMtx7mhyeG7V/d8uWUdKLdIUz8TqEZBj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itilliumWebSemiBold-italic.fntdata"/><Relationship Id="rId22" Type="http://schemas.openxmlformats.org/officeDocument/2006/relationships/font" Target="fonts/TitilliumWeb-regular.fntdata"/><Relationship Id="rId21" Type="http://schemas.openxmlformats.org/officeDocument/2006/relationships/font" Target="fonts/TitilliumWebSemiBold-boldItalic.fntdata"/><Relationship Id="rId24" Type="http://schemas.openxmlformats.org/officeDocument/2006/relationships/font" Target="fonts/TitilliumWeb-italic.fntdata"/><Relationship Id="rId23" Type="http://schemas.openxmlformats.org/officeDocument/2006/relationships/font" Target="fonts/TitilliumWeb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TitilliumWeb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TitilliumWebSemiBold-bold.fntdata"/><Relationship Id="rId18" Type="http://schemas.openxmlformats.org/officeDocument/2006/relationships/font" Target="fonts/TitilliumWeb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c534cb4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c534cb4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c534cb4ee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fc534cb4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c534cb4ee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fc534cb4e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fc534cb4ee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fc534cb4e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c534cb4ee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c534cb4e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c534cb4ee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fc534cb4e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fc534cb4ee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fc534cb4e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c0d150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fc0d15045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fc0d150453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fc0d1504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fc0d150453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fc0d15045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c0d15045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c0d1504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1"/>
          <p:cNvSpPr txBox="1"/>
          <p:nvPr>
            <p:ph type="title"/>
          </p:nvPr>
        </p:nvSpPr>
        <p:spPr>
          <a:xfrm>
            <a:off x="1870457" y="2397968"/>
            <a:ext cx="8682465" cy="972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1"/>
          <p:cNvSpPr txBox="1"/>
          <p:nvPr>
            <p:ph idx="1" type="body"/>
          </p:nvPr>
        </p:nvSpPr>
        <p:spPr>
          <a:xfrm>
            <a:off x="1862139" y="3444875"/>
            <a:ext cx="8690784" cy="2262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2ADAC0"/>
              </a:buClr>
              <a:buSzPts val="1800"/>
              <a:buNone/>
              <a:defRPr/>
            </a:lvl1pPr>
            <a:lvl2pPr indent="-34925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2ADAC0"/>
              </a:buClr>
              <a:buSzPts val="1900"/>
              <a:buChar char="•"/>
              <a:defRPr>
                <a:solidFill>
                  <a:srgbClr val="2ADAC0"/>
                </a:solidFill>
              </a:defRPr>
            </a:lvl2pPr>
            <a:lvl3pPr indent="-34925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2ADAC0"/>
              </a:buClr>
              <a:buSzPts val="1900"/>
              <a:buChar char="•"/>
              <a:defRPr>
                <a:solidFill>
                  <a:srgbClr val="2ADAC0"/>
                </a:solidFill>
              </a:defRPr>
            </a:lvl3pPr>
            <a:lvl4pPr indent="-34925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2ADAC0"/>
              </a:buClr>
              <a:buSzPts val="1900"/>
              <a:buChar char="•"/>
              <a:defRPr>
                <a:solidFill>
                  <a:srgbClr val="2ADAC0"/>
                </a:solidFill>
              </a:defRPr>
            </a:lvl4pPr>
            <a:lvl5pPr indent="-34925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2ADAC0"/>
              </a:buClr>
              <a:buSzPts val="1900"/>
              <a:buChar char="•"/>
              <a:defRPr>
                <a:solidFill>
                  <a:srgbClr val="2ADAC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" name="Google Shape;11;p21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Diseño personalizado">
  <p:cSld name="11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2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" type="body"/>
          </p:nvPr>
        </p:nvSpPr>
        <p:spPr>
          <a:xfrm>
            <a:off x="1231900" y="1735138"/>
            <a:ext cx="10310780" cy="381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Diseño personalizado">
  <p:cSld name="19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3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/>
          <p:nvPr>
            <p:ph idx="2" type="pic"/>
          </p:nvPr>
        </p:nvSpPr>
        <p:spPr>
          <a:xfrm>
            <a:off x="8836090" y="1937475"/>
            <a:ext cx="2706590" cy="167849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23"/>
          <p:cNvSpPr/>
          <p:nvPr>
            <p:ph idx="3" type="pic"/>
          </p:nvPr>
        </p:nvSpPr>
        <p:spPr>
          <a:xfrm>
            <a:off x="8836090" y="3811021"/>
            <a:ext cx="2706590" cy="167849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23"/>
          <p:cNvSpPr txBox="1"/>
          <p:nvPr>
            <p:ph idx="1" type="body"/>
          </p:nvPr>
        </p:nvSpPr>
        <p:spPr>
          <a:xfrm>
            <a:off x="1231900" y="1735138"/>
            <a:ext cx="7493000" cy="385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4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Diseño personalizado">
  <p:cSld name="20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/>
          <p:nvPr>
            <p:ph idx="2" type="pic"/>
          </p:nvPr>
        </p:nvSpPr>
        <p:spPr>
          <a:xfrm>
            <a:off x="8836090" y="1937475"/>
            <a:ext cx="2706590" cy="167849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24"/>
          <p:cNvSpPr/>
          <p:nvPr>
            <p:ph idx="3" type="pic"/>
          </p:nvPr>
        </p:nvSpPr>
        <p:spPr>
          <a:xfrm>
            <a:off x="8836090" y="3811021"/>
            <a:ext cx="2706590" cy="167849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24"/>
          <p:cNvSpPr txBox="1"/>
          <p:nvPr>
            <p:ph idx="1" type="body"/>
          </p:nvPr>
        </p:nvSpPr>
        <p:spPr>
          <a:xfrm>
            <a:off x="1231900" y="1735138"/>
            <a:ext cx="7493000" cy="385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4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/>
          <p:nvPr>
            <p:ph idx="2" type="pic"/>
          </p:nvPr>
        </p:nvSpPr>
        <p:spPr>
          <a:xfrm>
            <a:off x="1231901" y="3046033"/>
            <a:ext cx="4041395" cy="2689087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1231900" y="1735138"/>
            <a:ext cx="10310780" cy="119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3" type="body"/>
          </p:nvPr>
        </p:nvSpPr>
        <p:spPr>
          <a:xfrm>
            <a:off x="5400674" y="3040063"/>
            <a:ext cx="6142006" cy="269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4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Diseño personalizado">
  <p:cSld name="17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/>
          <p:nvPr>
            <p:ph idx="2" type="pic"/>
          </p:nvPr>
        </p:nvSpPr>
        <p:spPr>
          <a:xfrm>
            <a:off x="1231901" y="3046033"/>
            <a:ext cx="4041395" cy="2689087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1231900" y="1735138"/>
            <a:ext cx="10310780" cy="119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3" type="body"/>
          </p:nvPr>
        </p:nvSpPr>
        <p:spPr>
          <a:xfrm>
            <a:off x="5400674" y="3040063"/>
            <a:ext cx="6142006" cy="269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4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Diseño personalizado">
  <p:cSld name="7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/>
          <p:nvPr>
            <p:ph idx="2" type="pic"/>
          </p:nvPr>
        </p:nvSpPr>
        <p:spPr>
          <a:xfrm>
            <a:off x="1231901" y="3046033"/>
            <a:ext cx="4041395" cy="2689087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1231900" y="1735138"/>
            <a:ext cx="10310780" cy="119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5400674" y="3040063"/>
            <a:ext cx="6142006" cy="269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Diseño personalizado">
  <p:cSld name="21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/>
          <p:nvPr>
            <p:ph idx="2" type="pic"/>
          </p:nvPr>
        </p:nvSpPr>
        <p:spPr>
          <a:xfrm>
            <a:off x="1231901" y="3046033"/>
            <a:ext cx="4041395" cy="2689087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28"/>
          <p:cNvSpPr txBox="1"/>
          <p:nvPr>
            <p:ph idx="1" type="body"/>
          </p:nvPr>
        </p:nvSpPr>
        <p:spPr>
          <a:xfrm>
            <a:off x="1231900" y="1735138"/>
            <a:ext cx="10310780" cy="119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3" type="body"/>
          </p:nvPr>
        </p:nvSpPr>
        <p:spPr>
          <a:xfrm>
            <a:off x="5400674" y="3040063"/>
            <a:ext cx="6142006" cy="269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4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Diseño personalizado">
  <p:cSld name="22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/>
          <p:nvPr>
            <p:ph idx="2" type="pic"/>
          </p:nvPr>
        </p:nvSpPr>
        <p:spPr>
          <a:xfrm>
            <a:off x="1231901" y="3046033"/>
            <a:ext cx="4041395" cy="2689087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1231900" y="1735138"/>
            <a:ext cx="10310780" cy="119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3" type="body"/>
          </p:nvPr>
        </p:nvSpPr>
        <p:spPr>
          <a:xfrm>
            <a:off x="5400674" y="3040063"/>
            <a:ext cx="6142006" cy="269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4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Diseño personalizado">
  <p:cSld name="18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/>
          <p:nvPr>
            <p:ph idx="2" type="pic"/>
          </p:nvPr>
        </p:nvSpPr>
        <p:spPr>
          <a:xfrm>
            <a:off x="1231901" y="3046033"/>
            <a:ext cx="4041395" cy="268908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0"/>
          <p:cNvSpPr txBox="1"/>
          <p:nvPr>
            <p:ph idx="1" type="body"/>
          </p:nvPr>
        </p:nvSpPr>
        <p:spPr>
          <a:xfrm>
            <a:off x="1231900" y="1735138"/>
            <a:ext cx="10310780" cy="119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3" type="body"/>
          </p:nvPr>
        </p:nvSpPr>
        <p:spPr>
          <a:xfrm>
            <a:off x="5400674" y="3040063"/>
            <a:ext cx="6142006" cy="2695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4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Diseño personalizado">
  <p:cSld name="12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" type="body"/>
          </p:nvPr>
        </p:nvSpPr>
        <p:spPr>
          <a:xfrm>
            <a:off x="1231900" y="1735138"/>
            <a:ext cx="10310780" cy="381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seño personalizado">
  <p:cSld name="2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>
            <a:off x="1231900" y="1735138"/>
            <a:ext cx="10310780" cy="381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Diseño personalizado">
  <p:cSld name="14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>
            <a:off x="1231900" y="1735138"/>
            <a:ext cx="10310780" cy="381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Diseño personalizado">
  <p:cSld name="10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>
            <a:off x="1231900" y="1735138"/>
            <a:ext cx="10310780" cy="381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Diseño personalizado">
  <p:cSld name="15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5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" type="body"/>
          </p:nvPr>
        </p:nvSpPr>
        <p:spPr>
          <a:xfrm>
            <a:off x="1231900" y="1735138"/>
            <a:ext cx="10310780" cy="381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Diseño personalizado">
  <p:cSld name="23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6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6"/>
          <p:cNvSpPr txBox="1"/>
          <p:nvPr>
            <p:ph idx="1" type="body"/>
          </p:nvPr>
        </p:nvSpPr>
        <p:spPr>
          <a:xfrm>
            <a:off x="1231900" y="1735138"/>
            <a:ext cx="10310780" cy="381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Diseño personalizado">
  <p:cSld name="24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7"/>
          <p:cNvSpPr txBox="1"/>
          <p:nvPr>
            <p:ph type="title"/>
          </p:nvPr>
        </p:nvSpPr>
        <p:spPr>
          <a:xfrm>
            <a:off x="1231900" y="1236719"/>
            <a:ext cx="10310780" cy="3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1BA0"/>
              </a:buClr>
              <a:buSzPts val="1800"/>
              <a:buFont typeface="Titillium Web"/>
              <a:buNone/>
              <a:defRPr b="1" sz="1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7"/>
          <p:cNvSpPr txBox="1"/>
          <p:nvPr>
            <p:ph idx="1" type="body"/>
          </p:nvPr>
        </p:nvSpPr>
        <p:spPr>
          <a:xfrm>
            <a:off x="1231900" y="1735138"/>
            <a:ext cx="10310780" cy="3817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400"/>
              <a:buNone/>
              <a:defRPr sz="1400">
                <a:solidFill>
                  <a:srgbClr val="101BA0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7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Diseño personalizado">
  <p:cSld name="16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 txBox="1"/>
          <p:nvPr>
            <p:ph idx="1" type="body"/>
          </p:nvPr>
        </p:nvSpPr>
        <p:spPr>
          <a:xfrm>
            <a:off x="906463" y="2671639"/>
            <a:ext cx="5184775" cy="233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4800"/>
              <a:buNone/>
              <a:defRPr b="1" sz="4800">
                <a:solidFill>
                  <a:srgbClr val="101BA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8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101BA0"/>
              </a:buClr>
              <a:buSzPts val="1800"/>
              <a:buNone/>
              <a:defRPr sz="1800">
                <a:solidFill>
                  <a:srgbClr val="101B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9"/>
          <p:cNvSpPr txBox="1"/>
          <p:nvPr>
            <p:ph type="title"/>
          </p:nvPr>
        </p:nvSpPr>
        <p:spPr>
          <a:xfrm>
            <a:off x="1870457" y="2397968"/>
            <a:ext cx="8682465" cy="972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" type="body"/>
          </p:nvPr>
        </p:nvSpPr>
        <p:spPr>
          <a:xfrm>
            <a:off x="1862139" y="3444875"/>
            <a:ext cx="8690784" cy="2262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FF627B"/>
              </a:buClr>
              <a:buSzPts val="2000"/>
              <a:buNone/>
              <a:defRPr>
                <a:solidFill>
                  <a:srgbClr val="FF627B"/>
                </a:solidFill>
              </a:defRPr>
            </a:lvl1pPr>
            <a:lvl2pPr indent="-34925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2ADAC0"/>
              </a:buClr>
              <a:buSzPts val="1900"/>
              <a:buChar char="•"/>
              <a:defRPr>
                <a:solidFill>
                  <a:srgbClr val="2ADAC0"/>
                </a:solidFill>
              </a:defRPr>
            </a:lvl2pPr>
            <a:lvl3pPr indent="-34925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2ADAC0"/>
              </a:buClr>
              <a:buSzPts val="1900"/>
              <a:buChar char="•"/>
              <a:defRPr>
                <a:solidFill>
                  <a:srgbClr val="2ADAC0"/>
                </a:solidFill>
              </a:defRPr>
            </a:lvl3pPr>
            <a:lvl4pPr indent="-34925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2ADAC0"/>
              </a:buClr>
              <a:buSzPts val="1900"/>
              <a:buChar char="•"/>
              <a:defRPr>
                <a:solidFill>
                  <a:srgbClr val="2ADAC0"/>
                </a:solidFill>
              </a:defRPr>
            </a:lvl4pPr>
            <a:lvl5pPr indent="-34925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2ADAC0"/>
              </a:buClr>
              <a:buSzPts val="1900"/>
              <a:buChar char="•"/>
              <a:defRPr>
                <a:solidFill>
                  <a:srgbClr val="2ADAC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9"/>
          <p:cNvSpPr txBox="1"/>
          <p:nvPr>
            <p:ph idx="2" type="body"/>
          </p:nvPr>
        </p:nvSpPr>
        <p:spPr>
          <a:xfrm>
            <a:off x="587374" y="351648"/>
            <a:ext cx="2628901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02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27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1870457" y="2397968"/>
            <a:ext cx="8682465" cy="972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  <a:defRPr b="1" i="0" sz="28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1870457" y="3640262"/>
            <a:ext cx="8682465" cy="2667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2ADAC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2ADAC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rgbClr val="FF627B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indent="-34925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rgbClr val="FF627B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rgbClr val="FF627B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FF627B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rgbClr val="FF627B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title"/>
          </p:nvPr>
        </p:nvSpPr>
        <p:spPr>
          <a:xfrm>
            <a:off x="1870457" y="2397968"/>
            <a:ext cx="8682465" cy="972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</a:pPr>
            <a:r>
              <a:rPr lang="pt-PT"/>
              <a:t>Classes Internas</a:t>
            </a:r>
            <a:endParaRPr/>
          </a:p>
        </p:txBody>
      </p:sp>
      <p:sp>
        <p:nvSpPr>
          <p:cNvPr id="104" name="Google Shape;104;p1"/>
          <p:cNvSpPr txBox="1"/>
          <p:nvPr>
            <p:ph idx="1" type="body"/>
          </p:nvPr>
        </p:nvSpPr>
        <p:spPr>
          <a:xfrm>
            <a:off x="1862139" y="3444875"/>
            <a:ext cx="8690784" cy="2262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DAC0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 txBox="1"/>
          <p:nvPr>
            <p:ph idx="2" type="body"/>
          </p:nvPr>
        </p:nvSpPr>
        <p:spPr>
          <a:xfrm>
            <a:off x="587374" y="351648"/>
            <a:ext cx="4165858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highlight>
                  <a:srgbClr val="101BA0"/>
                </a:highlight>
                <a:latin typeface="Titillium Web"/>
                <a:ea typeface="Titillium Web"/>
                <a:cs typeface="Titillium Web"/>
                <a:sym typeface="Titillium Web"/>
              </a:rPr>
              <a:t>Programação Java: Certificação OCP</a:t>
            </a:r>
            <a:endParaRPr>
              <a:highlight>
                <a:srgbClr val="101BA0"/>
              </a:highlight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>
              <a:highlight>
                <a:srgbClr val="101BA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c534cb4ee_0_0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Classes Finais</a:t>
            </a:r>
            <a:endParaRPr/>
          </a:p>
        </p:txBody>
      </p:sp>
      <p:sp>
        <p:nvSpPr>
          <p:cNvPr id="111" name="Google Shape;111;gfc534cb4ee_0_0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Uma classe final é uma classe que você não deseja estender.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O modificador final é simplesmente adicionado na definição da classe e não será possível herdar dele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public final class Car {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. . .	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. . 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b="1" lang="pt-PT" sz="1800"/>
              <a:t>Classes aninhadas</a:t>
            </a:r>
            <a:endParaRPr b="1" sz="1800"/>
          </a:p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Uma classe aninhada é uma classe definida dentro de outra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A razão para definir uma classe aninhada é que ela tem um relacionamento muito forte com a classe em que está definida e não faz sentido a sua existência sem esta classe externa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fc534cb4ee_0_0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fc534cb4ee_0_10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Classes internas (não estáticas)</a:t>
            </a:r>
            <a:endParaRPr/>
          </a:p>
        </p:txBody>
      </p:sp>
      <p:sp>
        <p:nvSpPr>
          <p:cNvPr id="118" name="Google Shape;118;gfc534cb4ee_0_10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É uma classe definida dentro de outra de forma que depende da instância da classe externa para ser instanciada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public class Pedido {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private String numero; 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private float preco; 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class DetalhePedido {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private Producto producto;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private int quantidade;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private float preco: 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public class Aplication {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public static void main(String args[]) {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Pedido pedido = new Pedido(); </a:t>
            </a:r>
            <a:endParaRPr/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Pedido.DetalhePedido detalhePedido = pedido.new DetalhePedido();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</a:t>
            </a:r>
            <a:endParaRPr/>
          </a:p>
        </p:txBody>
      </p:sp>
      <p:sp>
        <p:nvSpPr>
          <p:cNvPr id="119" name="Google Shape;119;gfc534cb4ee_0_10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fc534cb4ee_0_18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Classes estáticas</a:t>
            </a:r>
            <a:endParaRPr/>
          </a:p>
        </p:txBody>
      </p:sp>
      <p:sp>
        <p:nvSpPr>
          <p:cNvPr id="125" name="Google Shape;125;gfc534cb4ee_0_18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Char char="●"/>
            </a:pPr>
            <a:r>
              <a:rPr lang="pt-PT" sz="1300"/>
              <a:t>São classes definidas dentro de outras para definir estruturas que estão diretamente relacionadas, aumentando a coesão entre ambos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 sz="1300"/>
              <a:t>A classe aninhada estática não depende de instanciar a classe externa onde ela está definida</a:t>
            </a:r>
            <a:endParaRPr sz="1300"/>
          </a:p>
          <a:p>
            <a:pPr indent="0" lvl="0" marL="9144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lang="pt-PT" sz="1300"/>
              <a:t>public class Veiculo { </a:t>
            </a:r>
            <a:endParaRPr sz="1300"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private String matricula; </a:t>
            </a:r>
            <a:endParaRPr sz="13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private String marca; </a:t>
            </a:r>
            <a:endParaRPr sz="13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private Chasis chasis;</a:t>
            </a:r>
            <a:endParaRPr sz="13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 . . . </a:t>
            </a:r>
            <a:endParaRPr sz="13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public static class Chasis { </a:t>
            </a:r>
            <a:endParaRPr sz="1300"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private String tipo; </a:t>
            </a:r>
            <a:endParaRPr sz="1300"/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public Chasis(String tipo) { </a:t>
            </a:r>
            <a:endParaRPr sz="1300"/>
          </a:p>
          <a:p>
            <a:pPr indent="4572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this.tipo = tipo; </a:t>
            </a:r>
            <a:endParaRPr sz="1300"/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}</a:t>
            </a:r>
            <a:endParaRPr sz="1300"/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 . . .</a:t>
            </a:r>
            <a:endParaRPr sz="1300"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 } </a:t>
            </a:r>
            <a:endParaRPr sz="13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}</a:t>
            </a:r>
            <a:endParaRPr sz="13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public class Aplication {</a:t>
            </a:r>
            <a:endParaRPr sz="1300"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public static void main(String args[]) { </a:t>
            </a:r>
            <a:endParaRPr sz="1300"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Veiculo veiculo = new Veiculo(. . .); </a:t>
            </a:r>
            <a:endParaRPr sz="1300"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Veiculo.Chasis chasis = new Veiculo.Chasis("metálico"); </a:t>
            </a:r>
            <a:endParaRPr sz="1300"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. . . </a:t>
            </a:r>
            <a:endParaRPr sz="13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} </a:t>
            </a:r>
            <a:endParaRPr sz="13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/>
              <a:t>}</a:t>
            </a:r>
            <a:endParaRPr sz="13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6" name="Google Shape;126;gfc534cb4ee_0_18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c534cb4ee_0_27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Classes locais	</a:t>
            </a:r>
            <a:endParaRPr/>
          </a:p>
        </p:txBody>
      </p:sp>
      <p:sp>
        <p:nvSpPr>
          <p:cNvPr id="132" name="Google Shape;132;gfc534cb4ee_0_27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Uma classe local é uma classe definida dentro de um método ou bloco de código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Só pode ser usado dentro do método ou bloco onde foi definido.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Nenhum modificador de visibilidade pode ser adicionado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Se a classe local tiver que acessar variáveis ​​do método ou bloco de código, elas deverão ser definidas como finais para que não possam ser modificadas a partir da classe local (como é outra classe, não pode acessar a variável, então o Java passará uma cópia do valor)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lang="pt-PT"/>
              <a:t>public class OrdenadorPortatil {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. . .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public int getAutonomia() { </a:t>
            </a:r>
            <a:endParaRPr/>
          </a:p>
          <a:p>
            <a:pPr indent="45720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class Bateria { </a:t>
            </a:r>
            <a:endParaRPr/>
          </a:p>
          <a:p>
            <a:pPr indent="457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. . . </a:t>
            </a:r>
            <a:endParaRPr/>
          </a:p>
          <a:p>
            <a:pPr indent="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Bateria bateria = new Bateria();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 . . .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 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	</a:t>
            </a:r>
            <a:endParaRPr/>
          </a:p>
        </p:txBody>
      </p:sp>
      <p:sp>
        <p:nvSpPr>
          <p:cNvPr id="133" name="Google Shape;133;gfc534cb4ee_0_27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c534cb4ee_0_35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Classes anônimas</a:t>
            </a:r>
            <a:endParaRPr/>
          </a:p>
        </p:txBody>
      </p:sp>
      <p:sp>
        <p:nvSpPr>
          <p:cNvPr id="139" name="Google Shape;139;gfc534cb4ee_0_35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São classes definidas sem nome, a partir do qual o objeto é instanciado diretamente para ser usado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lang="pt-PT"/>
              <a:t>public interface Maquina {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int getAutonomia();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 . . .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Maquina maquina = new Maquina() {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@Override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public int getAutonomia() {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//Aqui implementamos o método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 . . .</a:t>
            </a:r>
            <a:endParaRPr/>
          </a:p>
        </p:txBody>
      </p:sp>
      <p:sp>
        <p:nvSpPr>
          <p:cNvPr id="140" name="Google Shape;140;gfc534cb4ee_0_35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fc534cb4ee_0_43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fc534cb4ee_0_43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/>
              <a:t>Exemplos classes internas</a:t>
            </a:r>
            <a:endParaRPr b="1" sz="1800"/>
          </a:p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Uma classe é composta de outros componentes que queremos definir como classes.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Essas classes têm uma relação muito forte com a classe externa, por isso pode não fazer sentido criar uma classe pública para cada uma.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Eles podem ser definidos como classes internas à classe principal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Além disso, não faz sentido que os objetos das classes de componentes existam sem um objeto da classe externa existente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/>
              <a:t>Exemplos classes estáticas</a:t>
            </a:r>
            <a:endParaRPr b="1" sz="1800"/>
          </a:p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Caso de uso semelhante à classe interna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Agora, as classes de componentes fazem sentido porque existem sem a existência de um objeto de classe externa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A classe externa e interna ainda estão intimamente relacionadas</a:t>
            </a:r>
            <a:endParaRPr/>
          </a:p>
        </p:txBody>
      </p:sp>
      <p:sp>
        <p:nvSpPr>
          <p:cNvPr id="147" name="Google Shape;147;gfc534cb4ee_0_43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c534cb4ee_0_52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fc534cb4ee_0_52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b="1" lang="pt-PT" sz="1800"/>
              <a:t>Exemplos classes locais</a:t>
            </a:r>
            <a:endParaRPr b="1" sz="1800"/>
          </a:p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Ao definir um método, pode ser interessante ter uma estrutura simples, mas prática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Você pode definir a classe a ser usada apenas naquele momento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Pode simplificar o código do método, uma vez que os métodos podem ser definidos para agrupar certas funcionalidades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/>
              <a:t>Exemplos classes anônimas</a:t>
            </a:r>
            <a:endParaRPr b="1" sz="1800"/>
          </a:p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É usada para instanciar objetos e usá-los diretamente, sem ter que definir a classe previamente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É conveniente nos casos em que a classe implementa uma interface e precisamos de um objeto para um único uso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É usado nos casos em que a implementação é baixa e não vale a pena definir uma classe separada. Ajuda o código a ser mais legível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Além disso, a partir da classe anônima podemos acessar atributos e variáveis ​​locais da classe onde está definida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fc534cb4ee_0_52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fc0d150453_0_0"/>
          <p:cNvSpPr txBox="1"/>
          <p:nvPr>
            <p:ph type="title"/>
          </p:nvPr>
        </p:nvSpPr>
        <p:spPr>
          <a:xfrm>
            <a:off x="1870457" y="2397968"/>
            <a:ext cx="86826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"/>
              <a:buNone/>
            </a:pPr>
            <a:r>
              <a:rPr lang="pt-PT"/>
              <a:t>Enumerações</a:t>
            </a:r>
            <a:endParaRPr/>
          </a:p>
        </p:txBody>
      </p:sp>
      <p:sp>
        <p:nvSpPr>
          <p:cNvPr id="160" name="Google Shape;160;gfc0d150453_0_0"/>
          <p:cNvSpPr txBox="1"/>
          <p:nvPr>
            <p:ph idx="1" type="body"/>
          </p:nvPr>
        </p:nvSpPr>
        <p:spPr>
          <a:xfrm>
            <a:off x="1862139" y="3444875"/>
            <a:ext cx="8690700" cy="22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ADAC0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1" name="Google Shape;161;gfc0d150453_0_0"/>
          <p:cNvSpPr txBox="1"/>
          <p:nvPr>
            <p:ph idx="2" type="body"/>
          </p:nvPr>
        </p:nvSpPr>
        <p:spPr>
          <a:xfrm>
            <a:off x="587374" y="351648"/>
            <a:ext cx="41658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highlight>
                  <a:srgbClr val="101BA0"/>
                </a:highlight>
                <a:latin typeface="Titillium Web"/>
                <a:ea typeface="Titillium Web"/>
                <a:cs typeface="Titillium Web"/>
                <a:sym typeface="Titillium Web"/>
              </a:rPr>
              <a:t>Programação Java: Certificação OCP</a:t>
            </a:r>
            <a:endParaRPr>
              <a:highlight>
                <a:srgbClr val="101BA0"/>
              </a:highlight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>
              <a:highlight>
                <a:srgbClr val="101BA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c0d150453_0_6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 que são enumerações?</a:t>
            </a:r>
            <a:endParaRPr/>
          </a:p>
        </p:txBody>
      </p:sp>
      <p:sp>
        <p:nvSpPr>
          <p:cNvPr id="167" name="Google Shape;167;gfc0d150453_0_6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Eles permitem definir novos tipos de dados com intervalos de valores muito limitados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Eles substituem as constantes para os casos em que estavam relacionados entre si (valores diferentes do mesmo intervalo)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No final, eles ainda são uma série de constantes, mas agrupadas e com algum contexto adicionado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PT"/>
              <a:t>Uma vez que uma enumeração foi definida, é possível definir variáveis ​​desse tipo cujos valores possíveis serão aqueles que foram definido em enum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lang="pt-PT"/>
              <a:t>	public enum Direcao { </a:t>
            </a:r>
            <a:endParaRPr/>
          </a:p>
          <a:p>
            <a:pPr indent="45720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ACIMA, ABAIXO, ESQUERDA, DIREIT</a:t>
            </a:r>
            <a:r>
              <a:rPr lang="pt-PT"/>
              <a:t>A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 . . . </a:t>
            </a:r>
            <a:endParaRPr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private Direcao direcao;</a:t>
            </a:r>
            <a:endParaRPr/>
          </a:p>
        </p:txBody>
      </p:sp>
      <p:sp>
        <p:nvSpPr>
          <p:cNvPr id="168" name="Google Shape;168;gfc0d150453_0_6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fc0d150453_0_28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Definir e utilizar uma enumeração</a:t>
            </a:r>
            <a:endParaRPr/>
          </a:p>
        </p:txBody>
      </p:sp>
      <p:sp>
        <p:nvSpPr>
          <p:cNvPr id="174" name="Google Shape;174;gfc0d150453_0_28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public enum Direcao {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ABAIXO, ACIMA, ESQUERDA, DIREITA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}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. . .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private Direcao direcao;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----------------------------------------------------------------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direcao = Direccion.ABAIXO;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----------------------------------------------------------------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import static com.tokioschool.ejemplo.Direcao.ABAIXO;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. . 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 direcao = ABAIXO</a:t>
            </a:r>
            <a:endParaRPr/>
          </a:p>
        </p:txBody>
      </p:sp>
      <p:sp>
        <p:nvSpPr>
          <p:cNvPr id="175" name="Google Shape;175;gfc0d150453_0_28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fc0d150453_0_21"/>
          <p:cNvSpPr txBox="1"/>
          <p:nvPr>
            <p:ph type="title"/>
          </p:nvPr>
        </p:nvSpPr>
        <p:spPr>
          <a:xfrm>
            <a:off x="1231900" y="1236719"/>
            <a:ext cx="10310700" cy="3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Definir um tipo enumerado</a:t>
            </a:r>
            <a:endParaRPr/>
          </a:p>
        </p:txBody>
      </p:sp>
      <p:sp>
        <p:nvSpPr>
          <p:cNvPr id="181" name="Google Shape;181;gfc0d150453_0_21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public enum Estacao{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PRIMAVERA (10, 20.5f),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VERAO (23, 40),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OUTONO (5.3f, 15),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INVERNO (-2.1f, 10);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private final float temperaturaMinima;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private final float temperaturaMaxima;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Estacao(float minima, float maxima) {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temperaturaMinima = minima; </a:t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temperaturaMaxima = maxima;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}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public float temperaturaMinima() { return temperaturaMinima; }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public float temperaturaMaxima() { return temperaturaMaxima; } 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public float diferenciaTemperatura() { return temperaturaMaxima – temperaturaMinima; } }</a:t>
            </a:r>
            <a:endParaRPr/>
          </a:p>
        </p:txBody>
      </p:sp>
      <p:sp>
        <p:nvSpPr>
          <p:cNvPr id="182" name="Google Shape;182;gfc0d150453_0_21"/>
          <p:cNvSpPr txBox="1"/>
          <p:nvPr>
            <p:ph idx="2" type="body"/>
          </p:nvPr>
        </p:nvSpPr>
        <p:spPr>
          <a:xfrm>
            <a:off x="587374" y="351648"/>
            <a:ext cx="2628900" cy="43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33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body"/>
          </p:nvPr>
        </p:nvSpPr>
        <p:spPr>
          <a:xfrm>
            <a:off x="1231900" y="1735138"/>
            <a:ext cx="10310700" cy="3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200"/>
          </a:p>
          <a:p>
            <a:pPr indent="0" lvl="0" marL="0" rtl="0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200"/>
          </a:p>
          <a:p>
            <a:pPr indent="0" lvl="0" marL="0" rtl="0" algn="ctr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3200"/>
              <a:t>Dúvidas?</a:t>
            </a:r>
            <a:endParaRPr sz="24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seBlanco">
  <a:themeElements>
    <a:clrScheme name="Personalizado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